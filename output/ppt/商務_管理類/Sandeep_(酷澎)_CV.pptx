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481395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3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3AEE59-142E-E19A-D723-2B896FAA8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93961B2-55D2-E776-7CF0-2032F9EE1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6469D7-9102-B860-C99A-C26C9FA88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0EDCF7-7F7C-F182-4A37-2ABEFA8AF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7251D50-28FF-1DEF-70EE-963EED444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5152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60970B-78C5-4D07-EB2F-5A723B940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48D693-44FC-F091-29EB-FF6BA5B71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6FF759-676B-B31E-ADA3-959007642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69DFAF-EB25-D19B-1B6F-7594C578E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AB4535-F4AE-491B-B01B-7F84BDB80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751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BB6303-EC89-E201-1026-7EA665395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D402B2F-3A6A-FD68-4D66-66327C78C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7A5564B-75D2-583C-0079-253BCC2E8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B40C9F-F331-6469-14D9-41A7327FF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FFD636-17AF-F40F-D808-B3069AC74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5253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E107DC-62A1-DD2D-CDBC-82539B3AB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52FE4D-276A-7F90-B6ED-03DBB57B4D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54EDB5D-AE2F-4476-C0AE-D6DB3A4FA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7CDF69A-3865-E034-BB0B-AB0A02437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C683764-FF27-8CC2-692E-C0A7252AF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1FBB91B-B0DD-0131-1A20-98E97B501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8961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43D0EA-E8F3-9D12-3E1E-C767DC019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AF920D1-0C9D-C66F-FEB7-ACE184A00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B2151AC-26BC-BC27-9B54-DD14CA459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B5A53A1-B3A6-334C-D610-0B771B77B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7AECDA6-FF09-0A9C-3E35-2DD6DD7BDD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AEA74C6-833E-A134-2059-4D13DFDF7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E0D1B9A-6F12-7720-3237-A8276AFF3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5F9BB0E-407C-1250-6A22-BDD89F9F5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8408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961429-CFD8-DA21-A0B3-F06EDA779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8CCCF0D-DE1B-D332-ED89-3EC105762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4FF7418-A410-C947-F057-A9B71050D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933717E-E483-3E4B-AA9F-BDFE504D2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7301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2B6D6E4-86B1-4803-A305-22947B1D7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1E066E3-EA5F-8583-CFEF-DB95A2F79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FDD3957-0B87-9005-16E5-734114EDC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2566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34D430-18D0-6A0F-3DE7-16491E273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8BEB11E-8589-6D73-5B2F-2C4EEF91C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A0A317E-CAAE-722F-18C9-261B8DCB5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556D00E-CA54-AA50-3D7C-063C056C1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BEB450C-EEE3-D72D-3733-DFCA16ABE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5FFD26F-59BA-2100-B2C2-FF127ECBE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4292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435A3E-C4CC-6377-C240-788800601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0D5CE9E-9E74-0F5D-086C-349E5768B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CDFD88A-3A39-4467-894F-E051C334B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CF06F94-D839-776F-722B-7AABE1316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E6EDB7B-0F6A-E317-5C50-156EB704F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D9EF85F-DCEA-BCBD-E56E-75EE5D1E6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0997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8D8B65-EC1C-A3CA-3AB1-9CE8EA65B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BF47183-3759-DC48-3F9F-35AB5C18E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9F9BDDC-3C29-5389-6B63-34BFBA189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D86DF46-9D31-D122-A798-F7CDEEA52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A147B3-52B9-6FB9-7A93-A2EC372F6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1042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EA0BA3C-A3CC-3328-CA3B-E4ED182748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61C6BDB-1ED2-E584-19A6-077D35B0C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71F532-94F5-3DC2-2AA5-D88D76019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3CCDD7-539F-DC4C-CD2B-304A372C6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E59246C-7E54-939B-5590-6202B9D25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558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12"/>
          <p:cNvSpPr>
            <a:spLocks noGrp="1"/>
          </p:cNvSpPr>
          <p:nvPr>
            <p:ph type="body" sz="quarter" idx="10"/>
          </p:nvPr>
        </p:nvSpPr>
        <p:spPr>
          <a:xfrm>
            <a:off x="470333" y="1255513"/>
            <a:ext cx="11221483" cy="4750036"/>
          </a:xfrm>
          <a:prstGeom prst="rect">
            <a:avLst/>
          </a:prstGeom>
        </p:spPr>
        <p:txBody>
          <a:bodyPr lIns="91424" tIns="45712" rIns="91424" bIns="45712"/>
          <a:lstStyle>
            <a:lvl1pPr>
              <a:lnSpc>
                <a:spcPct val="120000"/>
              </a:lnSpc>
              <a:defRPr lang="zh-TW" alt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  <a:lvl2pPr marL="742820" indent="-285700">
              <a:lnSpc>
                <a:spcPct val="120000"/>
              </a:lnSpc>
              <a:buClr>
                <a:schemeClr val="tx2"/>
              </a:buClr>
              <a:buFont typeface="Arial" panose="020B0604020202020204" pitchFamily="34" charset="0"/>
              <a:buChar char="•"/>
              <a:defRPr lang="zh-TW" alt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2pPr>
            <a:lvl3pPr marL="1142799" indent="-228560">
              <a:lnSpc>
                <a:spcPct val="120000"/>
              </a:lnSpc>
              <a:buFont typeface="微軟正黑體" panose="020B0604030504040204" pitchFamily="34" charset="-120"/>
              <a:buChar char="╴"/>
              <a:defRPr lang="zh-TW" alt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3pPr>
            <a:lvl4pPr>
              <a:lnSpc>
                <a:spcPct val="120000"/>
              </a:lnSpc>
              <a:defRPr lang="zh-TW" alt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4pPr>
            <a:lvl5pPr>
              <a:lnSpc>
                <a:spcPct val="120000"/>
              </a:lnSpc>
              <a:defRPr lang="zh-TW" altLang="en-US" sz="1800" b="0" kern="12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9" name="文字版面配置區 14"/>
          <p:cNvSpPr>
            <a:spLocks noGrp="1"/>
          </p:cNvSpPr>
          <p:nvPr>
            <p:ph type="body" sz="quarter" idx="11"/>
          </p:nvPr>
        </p:nvSpPr>
        <p:spPr>
          <a:xfrm>
            <a:off x="470332" y="266623"/>
            <a:ext cx="11026666" cy="683960"/>
          </a:xfrm>
          <a:prstGeom prst="rect">
            <a:avLst/>
          </a:prstGeom>
        </p:spPr>
        <p:txBody>
          <a:bodyPr lIns="91424" tIns="45712" rIns="91424" bIns="45712" anchor="ctr"/>
          <a:lstStyle>
            <a:lvl1pPr marL="0" indent="0" algn="l">
              <a:buNone/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97770" y="6246446"/>
            <a:ext cx="3057769" cy="339725"/>
          </a:xfrm>
          <a:prstGeom prst="rect">
            <a:avLst/>
          </a:prstGeom>
        </p:spPr>
        <p:txBody>
          <a:bodyPr lIns="91424" tIns="45712" rIns="91424" bIns="45712" anchor="ctr"/>
          <a:lstStyle>
            <a:lvl1pPr algn="r" defTabSz="914239">
              <a:defRPr sz="9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7538D66-BAEE-4ADC-8AB1-FD7A1B4180A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4" name="Picture 2" descr="C:\Users\user\Dropbox\3.BOD Academy董事學院\Events\董事學會年會\2022 董事學會年會\2022董事學會年會 台北場\3.相關單位\主辦單位\CDRC\CDRC_logo_made.png">
            <a:extLst>
              <a:ext uri="{FF2B5EF4-FFF2-40B4-BE49-F238E27FC236}">
                <a16:creationId xmlns:a16="http://schemas.microsoft.com/office/drawing/2014/main" id="{14716F21-4484-4C8C-BD76-E7DC9DBB930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332" y="6100735"/>
            <a:ext cx="1952828" cy="512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What Causes Tides In The Ocean?">
            <a:extLst>
              <a:ext uri="{FF2B5EF4-FFF2-40B4-BE49-F238E27FC236}">
                <a16:creationId xmlns:a16="http://schemas.microsoft.com/office/drawing/2014/main" id="{305AB10A-98D4-29DD-9465-5138AAA6E89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53" b="82504"/>
          <a:stretch/>
        </p:blipFill>
        <p:spPr bwMode="auto">
          <a:xfrm>
            <a:off x="20" y="944115"/>
            <a:ext cx="12191980" cy="84885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6" name="Picture 2" descr="What Causes Tides In The Ocean?">
            <a:extLst>
              <a:ext uri="{FF2B5EF4-FFF2-40B4-BE49-F238E27FC236}">
                <a16:creationId xmlns:a16="http://schemas.microsoft.com/office/drawing/2014/main" id="{7E371637-9C8D-A21E-E688-6C7F0D50984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47" b="62622"/>
          <a:stretch/>
        </p:blipFill>
        <p:spPr bwMode="auto">
          <a:xfrm>
            <a:off x="-14916" y="6773115"/>
            <a:ext cx="12191980" cy="84885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63926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F2046F3-BEB6-5443-A5C1-6F2787FC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98808DC-1273-5CCC-641A-7D1F41735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F1B9E4A-94C8-CF2C-1FAE-4C3B11344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5BEF17-BE01-471C-FF5C-50CE59BA0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F769186-943E-7733-286C-D0FC58B9CB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5732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D8524-4C31-B733-117B-65FCD1323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96E9E08-4723-566F-2F4B-E191649EBD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2800" b="1">
                <a:latin typeface="微軟正黑體"/>
              </a:rPr>
              <a:t>Sandeep Karwa</a:t>
            </a:r>
            <a:endParaRPr lang="zh-TW" altLang="en-US" b="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5FC89D-63AB-D05D-5360-92FF10BF7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538D66-BAEE-4ADC-8AB1-FD7A1B4180AC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F5A8448-AB52-D165-FE16-5630132BF2AC}"/>
              </a:ext>
            </a:extLst>
          </p:cNvPr>
          <p:cNvSpPr txBox="1"/>
          <p:nvPr/>
        </p:nvSpPr>
        <p:spPr>
          <a:xfrm>
            <a:off x="2504433" y="1276141"/>
            <a:ext cx="3951034" cy="3762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latin typeface="微軟正黑體"/>
              </a:rPr>
              <a:t>專業背景：</a:t>
            </a:r>
            <a:endParaRPr lang="en-US" altLang="zh-TW" sz="1200" dirty="0">
              <a:highlight>
                <a:srgbClr val="FFFF00"/>
              </a:highlight>
              <a:latin typeface="+mn-ea"/>
            </a:endParaRPr>
          </a:p>
          <a:p>
            <a:r>
              <a:rPr sz="1100" b="0">
                <a:latin typeface="微軟正黑體"/>
              </a:rPr>
              <a:t>約 17 年在消費科技、電子商務、零售等領域經歷，專長於業務拓展、產品管理、廣告平台與供應鏈，長期在跨國電商企業擔任高階主管職務。</a:t>
            </a:r>
          </a:p>
          <a:p>
            <a:endParaRPr sz="1100" b="0">
              <a:latin typeface="微軟正黑體"/>
            </a:endParaRPr>
          </a:p>
          <a:p>
            <a:r>
              <a:rPr sz="1200" b="1">
                <a:latin typeface="微軟正黑體"/>
              </a:rPr>
              <a:t>學歷：</a:t>
            </a:r>
          </a:p>
          <a:p>
            <a:r>
              <a:rPr sz="1100" b="0">
                <a:latin typeface="微軟正黑體"/>
              </a:rPr>
              <a:t>Management Development Institute, Gurgaon 行銷 MBA</a:t>
            </a:r>
          </a:p>
          <a:p>
            <a:r>
              <a:rPr sz="1100" b="0">
                <a:latin typeface="微軟正黑體"/>
              </a:rPr>
              <a:t>Nagpur University 電子工程 學士</a:t>
            </a:r>
          </a:p>
          <a:p>
            <a:endParaRPr sz="1100" b="0">
              <a:latin typeface="微軟正黑體"/>
            </a:endParaRPr>
          </a:p>
          <a:p>
            <a:r>
              <a:rPr sz="1200" b="1">
                <a:latin typeface="微軟正黑體"/>
              </a:rPr>
              <a:t>主要經歷：</a:t>
            </a:r>
          </a:p>
          <a:p>
            <a:r>
              <a:rPr sz="1100" b="0">
                <a:latin typeface="微軟正黑體"/>
              </a:rPr>
              <a:t>Flipkart: Vice President Flipkart Ads Platform (領導廣告平台與客戶獲取擴張)</a:t>
            </a:r>
          </a:p>
          <a:p>
            <a:r>
              <a:rPr sz="1100" b="0">
                <a:latin typeface="微軟正黑體"/>
              </a:rPr>
              <a:t>Flipkart: Business Head Fashion/Softlines (管理時尚與軟性商品業務)</a:t>
            </a:r>
          </a:p>
          <a:p>
            <a:r>
              <a:rPr sz="1100" b="0">
                <a:latin typeface="微軟正黑體"/>
              </a:rPr>
              <a:t>Flipkart: Chief Business and Product Officer Flipkart Wholesale (領導收購Walmart India現金攜帶店)</a:t>
            </a:r>
          </a:p>
          <a:p>
            <a:r>
              <a:rPr sz="1100" b="0">
                <a:latin typeface="微軟正黑體"/>
              </a:rPr>
              <a:t>Flipkart: Business Head Smartphones (從零建立智慧手機業務)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FB6D06F-9302-8F16-9AC4-CD1DBF569D08}"/>
              </a:ext>
            </a:extLst>
          </p:cNvPr>
          <p:cNvSpPr txBox="1"/>
          <p:nvPr/>
        </p:nvSpPr>
        <p:spPr>
          <a:xfrm>
            <a:off x="6825253" y="1273599"/>
            <a:ext cx="452395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sz="1200" b="1">
                <a:latin typeface="微軟正黑體"/>
              </a:rPr>
              <a:t>現任：</a:t>
            </a:r>
            <a:endParaRPr lang="en-US" altLang="zh-TW" sz="1200" dirty="0">
              <a:highlight>
                <a:srgbClr val="FFFF00"/>
              </a:highlight>
              <a:latin typeface="+mn-ea"/>
            </a:endParaRPr>
          </a:p>
          <a:p>
            <a:r>
              <a:rPr sz="1100" b="0">
                <a:latin typeface="微軟正黑體"/>
              </a:rPr>
              <a:t>Coupang Inc. (酷澎): Taiwan Country Head</a:t>
            </a:r>
          </a:p>
          <a:p>
            <a:r>
              <a:rPr sz="1100" b="0">
                <a:latin typeface="微軟正黑體"/>
              </a:rPr>
              <a:t>Walmart India Pvt Ltd: 董事</a:t>
            </a:r>
          </a:p>
          <a:p>
            <a:r>
              <a:rPr sz="1100" b="0">
                <a:latin typeface="微軟正黑體"/>
              </a:rPr>
              <a:t>Wildcraft India: 董事</a:t>
            </a:r>
          </a:p>
          <a:p>
            <a:r>
              <a:rPr sz="1100" b="0">
                <a:latin typeface="微軟正黑體"/>
              </a:rPr>
              <a:t>Arvind Fashions Limited: 董事</a:t>
            </a:r>
          </a:p>
          <a:p>
            <a:endParaRPr sz="1100" b="0">
              <a:latin typeface="微軟正黑體"/>
            </a:endParaRPr>
          </a:p>
          <a:p>
            <a:r>
              <a:rPr sz="1200" b="1">
                <a:latin typeface="微軟正黑體"/>
              </a:rPr>
              <a:t>個人特質：</a:t>
            </a:r>
          </a:p>
          <a:p>
            <a:r>
              <a:rPr sz="1100" b="0">
                <a:latin typeface="微軟正黑體"/>
              </a:rPr>
              <a:t>1.結構化問題解決與設計思維</a:t>
            </a:r>
          </a:p>
          <a:p>
            <a:r>
              <a:rPr sz="1100" b="0">
                <a:latin typeface="微軟正黑體"/>
              </a:rPr>
              <a:t>- 以設計思維和結構化問題解決能力聞名，能領導跨功能團隊涵蓋業務、產品、工程、財務、供應鏈與HR，持續在複雜組織中驅動永續成長。</a:t>
            </a:r>
          </a:p>
          <a:p>
            <a:r>
              <a:rPr sz="1100" b="0">
                <a:latin typeface="微軟正黑體"/>
              </a:rPr>
              <a:t>- 對於需要優化供應鏈與業務擴張的公司，能帶來系統性轉型價值。</a:t>
            </a:r>
          </a:p>
          <a:p>
            <a:r>
              <a:rPr sz="1100" b="0">
                <a:latin typeface="微軟正黑體"/>
              </a:rPr>
              <a:t>2.團隊建設與領導力</a:t>
            </a:r>
          </a:p>
          <a:p>
            <a:r>
              <a:rPr sz="1100" b="0">
                <a:latin typeface="微軟正黑體"/>
              </a:rPr>
              <a:t>- 擅長建立高績效團隊，並管理數十億美元P&amp;L，從0到1擴張新業務垂直領域。</a:t>
            </a:r>
          </a:p>
          <a:p>
            <a:r>
              <a:rPr sz="1100" b="0">
                <a:latin typeface="微軟正黑體"/>
              </a:rPr>
              <a:t>- 在電商國際化與亞洲市場擴張中，提供強大跨國領導經驗。</a:t>
            </a:r>
          </a:p>
          <a:p>
            <a:r>
              <a:rPr sz="1100" b="0">
                <a:latin typeface="微軟正黑體"/>
              </a:rPr>
              <a:t>3.創新與業務擴張導向</a:t>
            </a:r>
          </a:p>
          <a:p>
            <a:r>
              <a:rPr sz="1100" b="0">
                <a:latin typeface="微軟正黑體"/>
              </a:rPr>
              <a:t>- 主導Flipkart超本地商務策略與多項創新計畫，如快速商務與批發業務。</a:t>
            </a:r>
          </a:p>
          <a:p>
            <a:r>
              <a:rPr sz="1100" b="0">
                <a:latin typeface="微軟正黑體"/>
              </a:rPr>
              <a:t>- 適合推動數位商務轉型與客戶導向策略的公司。</a:t>
            </a:r>
          </a:p>
          <a:p>
            <a:endParaRPr sz="1100" b="0">
              <a:latin typeface="微軟正黑體"/>
            </a:endParaRPr>
          </a:p>
          <a:p>
            <a:r>
              <a:rPr sz="1200" b="1">
                <a:latin typeface="微軟正黑體"/>
              </a:rPr>
              <a:t>現擔任獨董家數：</a:t>
            </a:r>
          </a:p>
          <a:p>
            <a:r>
              <a:rPr sz="1100" b="0">
                <a:latin typeface="微軟正黑體"/>
              </a:rPr>
              <a:t>0</a:t>
            </a:r>
          </a:p>
          <a:p>
            <a:endParaRPr sz="1100" b="0">
              <a:latin typeface="微軟正黑體"/>
            </a:endParaRPr>
          </a:p>
          <a:p>
            <a:r>
              <a:rPr sz="1200" b="1">
                <a:latin typeface="微軟正黑體"/>
              </a:rPr>
              <a:t>擔任獨董年資：</a:t>
            </a:r>
          </a:p>
          <a:p>
            <a:r>
              <a:rPr sz="1100" b="0">
                <a:latin typeface="微軟正黑體"/>
              </a:rPr>
              <a:t>0</a:t>
            </a: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CF938858-515D-EB0A-3C34-1DD0B18BFC0C}"/>
              </a:ext>
            </a:extLst>
          </p:cNvPr>
          <p:cNvGrpSpPr/>
          <p:nvPr/>
        </p:nvGrpSpPr>
        <p:grpSpPr>
          <a:xfrm>
            <a:off x="403107" y="3176554"/>
            <a:ext cx="1564712" cy="728534"/>
            <a:chOff x="447030" y="5253990"/>
            <a:chExt cx="2474950" cy="728534"/>
          </a:xfrm>
        </p:grpSpPr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D4E6FC83-C7A9-6159-85EB-DBCBB5643D6F}"/>
                </a:ext>
              </a:extLst>
            </p:cNvPr>
            <p:cNvSpPr txBox="1"/>
            <p:nvPr/>
          </p:nvSpPr>
          <p:spPr>
            <a:xfrm>
              <a:off x="447030" y="5253990"/>
              <a:ext cx="22671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TW" dirty="0"/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B38B26C8-FE5D-8C2E-0806-6758B0A88013}"/>
                </a:ext>
              </a:extLst>
            </p:cNvPr>
            <p:cNvSpPr txBox="1"/>
            <p:nvPr/>
          </p:nvSpPr>
          <p:spPr>
            <a:xfrm>
              <a:off x="1142494" y="5705525"/>
              <a:ext cx="17794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sz="1100" b="0">
                  <a:latin typeface="微軟正黑體"/>
                </a:rPr>
                <a:t>年齡：(待確認)</a:t>
              </a:r>
            </a:p>
          </p:txBody>
        </p:sp>
      </p:grp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40" y="1273599"/>
            <a:ext cx="18288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998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176</Words>
  <Application>Microsoft Office PowerPoint</Application>
  <PresentationFormat>寬螢幕</PresentationFormat>
  <Paragraphs>37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微軟正黑體</vt:lpstr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intern</dc:creator>
  <cp:lastModifiedBy>Absu rd</cp:lastModifiedBy>
  <cp:revision>7</cp:revision>
  <dcterms:created xsi:type="dcterms:W3CDTF">2025-12-15T08:12:46Z</dcterms:created>
  <dcterms:modified xsi:type="dcterms:W3CDTF">2026-01-21T04:36:51Z</dcterms:modified>
</cp:coreProperties>
</file>